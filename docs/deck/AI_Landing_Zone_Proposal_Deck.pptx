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Proposal: adopt a lightweight AI landing zone for the first 1-2 AI projects on the existing Azure Landing Zone, with a defined evolution path to the Citadel Governance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1-2 AI projects, an existing enterprise landing zone with vWAN and Azure Firewall. The question is whether to deploy the full governance hub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Recommendation: lightweight now, Citadel later on business/technical triggers. Three reasons: scale fit, standing cost, and a migration path that is only a configuration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Reference: AI Citadel Blueprint (aka.ms/foundry-citadel), reference implementation = ai-hub-gateway-solution-accelerator. We adopt layers 4 and 2 now, defer layer 1 gateway to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1: one spoke per project, deployed with the AI Landing Zones brownfield pattern. Everything private, identity-based, monitored, and policy-governed.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skipping governance in phase 1 - each deferred capability maps to a native substitute adequate for 1-2 projects. Trade-offs are named and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rules are what make the evolution claim credible. The auth model change is flagged now, with its mitigation.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managed vWAN hub, Citadel deploys as a dedicated governance spoke. Existing phase 1 spokes onboard by pointing at the gateway. Operations are contract-driven IaC.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Trigger-based, not calendar-based. Review quarterly against these five categories; any sustained trigger initiates the phase 2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approve phase 1, adopt the policy and tagging guardrails, commit to quarterly trigger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937760" cy="493776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48056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2344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10" y="14365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LANDING ZONE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Architecture for Enterprise AI on Azure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66928" y="4114800"/>
            <a:ext cx="2926080" cy="0"/>
          </a:xfrm>
          <a:prstGeom prst="line">
            <a:avLst/>
          </a:prstGeom>
          <a:noFill/>
          <a:ln w="31750">
            <a:solidFill>
              <a:srgbClr val="E09F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343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Committee Proposal — v2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Lightweight · Evolve to Citadel Governance Hub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1–2 AI Projects on an Existing Landing Zone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8390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6459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Azure Landing Zone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96596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Hub/spoke topology with Azure vWAN Hub and centralized Azure Firewall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7157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29" y="286316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6700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AI projects in the first phase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299008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workloads: AI apps/agents, Foundry / Azure OpenAI, AI Search (RAG), enterprise data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66928" y="37398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9" y="388729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69417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baseline is non-negotiable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014216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connectivity, enterprise identity, monitoring and audit required from day one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66928" y="476402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29" y="4911425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71830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multi-team gateway need yet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5038344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AI gateway serves many BUs and use cases — we are not there today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818120" y="1691640"/>
            <a:ext cx="3794760" cy="3977640"/>
          </a:xfrm>
          <a:prstGeom prst="roundRect">
            <a:avLst>
              <a:gd name="adj" fmla="val 2892"/>
            </a:avLst>
          </a:prstGeom>
          <a:solidFill>
            <a:srgbClr val="EAF2F7"/>
          </a:solidFill>
          <a:ln/>
        </p:spPr>
      </p:sp>
      <p:sp>
        <p:nvSpPr>
          <p:cNvPr id="21" name="Shape 15"/>
          <p:cNvSpPr/>
          <p:nvPr/>
        </p:nvSpPr>
        <p:spPr>
          <a:xfrm>
            <a:off x="8778240" y="20116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778240" y="2011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vWAN 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Firewall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 flipH="1">
            <a:off x="8823960" y="2788920"/>
            <a:ext cx="891540" cy="6858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138160" y="347472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138160" y="3474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10607040" y="2788920"/>
            <a:ext cx="-891540" cy="6858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921240" y="347472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921240" y="3474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(new)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046720" y="45262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what already works 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only what AI needs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48640" y="5897880"/>
            <a:ext cx="11064240" cy="621792"/>
          </a:xfrm>
          <a:prstGeom prst="roundRect">
            <a:avLst>
              <a:gd name="adj" fmla="val 13235"/>
            </a:avLst>
          </a:prstGeom>
          <a:solidFill>
            <a:srgbClr val="21295C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777240" y="589788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centralized AI Governance Hub now, or build the AI foundation incrementally?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Lightweight — Evolve on Triggers, Not on a Calendar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2880360"/>
          </a:xfrm>
          <a:prstGeom prst="roundRect">
            <a:avLst>
              <a:gd name="adj" fmla="val 3810"/>
            </a:avLst>
          </a:prstGeom>
          <a:solidFill>
            <a:srgbClr val="EAF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39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AI Landing Zone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spoke per project on existing vWAN + Firewall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endpoints, Managed Identity, no local auth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content filtering + per-deployment quotas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AI, Purview, Azure Policy, tagging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0" y="1783080"/>
            <a:ext cx="5029200" cy="288036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03720" y="2039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ON TRIGGERS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 Governance Hub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78892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unified AI gateway in a dedicated spoke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Contract-driven governance (Backend / Access / Publish)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usage &amp; cost analytics, chargeback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Content Safety, PII masking, model routing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0" y="2926080"/>
            <a:ext cx="822960" cy="594360"/>
          </a:xfrm>
          <a:prstGeom prst="rightArrow">
            <a:avLst/>
          </a:prstGeom>
          <a:solidFill>
            <a:srgbClr val="E09F3E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5205679"/>
            <a:ext cx="241402" cy="24140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34440" y="5029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53218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is built for multi-BU scale — not 1–2 projects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89120" y="5074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879" y="5205679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074920" y="5029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074920" y="53218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APIM + Event Hub + Cosmos standing cost until justified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229600" y="5074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59" y="5205679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915400" y="5029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path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915400" y="53218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the hub is an endpoint + credential swap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MICROSOFT REFERENCE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Citadel Blueprint: We Defer Only the Scale-Driven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EAF2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21133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110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Governance Hub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240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 gateway (APIM), policy-as-code, token limits, cost attribution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464040" y="20574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464040" y="2057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862072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EAF2F7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0449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319235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00200" y="29900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Agent Operations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1600200" y="33192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control plane, agent traces, AI evaluations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464040" y="313639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9464040" y="31363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project-level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941064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EAF2F7"/>
          </a:solidFill>
          <a:ln/>
        </p:spPr>
      </p:sp>
      <p:sp>
        <p:nvSpPr>
          <p:cNvPr id="19" name="Shape 15"/>
          <p:cNvSpPr/>
          <p:nvPr/>
        </p:nvSpPr>
        <p:spPr>
          <a:xfrm>
            <a:off x="777240" y="412394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4271345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069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Agent Management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3982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 &amp; lifecycle governance (Agent 365)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464040" y="4215384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09F3E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9464040" y="4215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2+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5020056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EAF2F7"/>
          </a:solidFill>
          <a:ln/>
        </p:spPr>
      </p:sp>
      <p:sp>
        <p:nvSpPr>
          <p:cNvPr id="26" name="Shape 21"/>
          <p:cNvSpPr/>
          <p:nvPr/>
        </p:nvSpPr>
        <p:spPr>
          <a:xfrm>
            <a:off x="777240" y="520293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5350337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00200" y="51480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Security Foundation</a:t>
            </a:r>
            <a:endParaRPr lang="en-US" sz="1550" dirty="0"/>
          </a:p>
        </p:txBody>
      </p:sp>
      <p:sp>
        <p:nvSpPr>
          <p:cNvPr id="29" name="Text 23"/>
          <p:cNvSpPr txBox="1"/>
          <p:nvPr/>
        </p:nvSpPr>
        <p:spPr>
          <a:xfrm>
            <a:off x="1600200" y="54772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AI · Purview · Entra — subscription-level, low cost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464040" y="529437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464040" y="5294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≠ less secure.  </a:t>
            </a:r>
            <a:pPr indent="0" marL="0"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adopt the Security Foundation (L4) and project-level observability (L2) from day one — deferring only the gateway layer, which is driven by scale.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AI Landing Zone —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0" y="16002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800600" y="1600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vWAN Hub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Azure Firewall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9048" y="2377440"/>
            <a:ext cx="0" cy="4572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88720" y="2834640"/>
            <a:ext cx="9829800" cy="2651760"/>
          </a:xfrm>
          <a:prstGeom prst="roundRect">
            <a:avLst>
              <a:gd name="adj" fmla="val 4138"/>
            </a:avLst>
          </a:prstGeom>
          <a:solidFill>
            <a:srgbClr val="EA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296265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WORKLOAD SPOKE — ONE PER PROJECT / USE CASE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17320" y="33832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2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 / Agent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886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+ credential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Key Vault / config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57016" y="4069080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49624" y="33832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2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86784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86784" y="3886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/ Azure OpenAI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content filtering · AI Search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4069080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81928" y="33832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2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9088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3886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Database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21624" y="4069080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714232" y="33832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2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51392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51392" y="38862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endpoint refs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rotation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02920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end-to-end  ·  All PaaS via Private Endpoint + Private DNS  ·  Public network access disabled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188720" y="5715000"/>
            <a:ext cx="9829800" cy="6858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463040" y="57150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Subscription-level: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AI  ·  Purview  ·  Azure Policy  ·  Central Log Analytics  ·  Cost Management + Tags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Deferred Gateway Capability Has a Native Substitute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TO PHASE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7208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NATIVE SUBSTITUTE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AF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AI gateway (APIM)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16752" y="2167128"/>
            <a:ext cx="457200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6547104" y="201168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48272" y="2011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private access · Managed Identity · RBAC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AF2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68833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quota / rate limiting per use case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16752" y="2843784"/>
            <a:ext cx="457200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6547104" y="2688336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48272" y="268833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Per-deployment TPM quotas on Azure OpenAI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A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36499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Content Safety / PII masking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16752" y="3520440"/>
            <a:ext cx="457200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6547104" y="3364992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336499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Azure OpenAI content filtering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041648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AF2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04164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usage &amp; cost analytics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16752" y="4197096"/>
            <a:ext cx="457200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6547104" y="4041648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48272" y="404164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 per RG + tags · token logs in Log Analytics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718304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AF2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7183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model pool / model access control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16752" y="4873752"/>
            <a:ext cx="457200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6547104" y="4718304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48272" y="471830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+ RBAC + IaC code review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39496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EAF2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53949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asset registry (API Center)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16752" y="5550408"/>
            <a:ext cx="457200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6547104" y="539496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48272" y="53949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/ wiki documentation — few assets today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trade-offs: </a:t>
            </a:r>
            <a:pPr indent="0" marL="0">
              <a:buNone/>
            </a:pPr>
            <a:r>
              <a:rPr lang="en-US" sz="12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at project level (not per-user) · no single choke point for AI request audit — mitigated by per-service diagnostic logs and policy.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THE KEY TO "EVOLVE WITHOUT REDESIGN"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Design Rules That Make Phase 2 a Config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85232" cy="1005840"/>
          </a:xfrm>
          <a:prstGeom prst="roundRect">
            <a:avLst>
              <a:gd name="adj" fmla="val 9091"/>
            </a:avLst>
          </a:prstGeom>
          <a:solidFill>
            <a:srgbClr val="EAF2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0253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93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endpoint + credentials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86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/ app config only — never hard-coded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85232" cy="1005840"/>
          </a:xfrm>
          <a:prstGeom prst="roundRect">
            <a:avLst>
              <a:gd name="adj" fmla="val 9091"/>
            </a:avLst>
          </a:prstGeom>
          <a:solidFill>
            <a:srgbClr val="EA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6556248" y="200253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6248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9293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OpenAI-compatible API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286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can be inserted transparently later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5285232" cy="1005840"/>
          </a:xfrm>
          <a:prstGeom prst="roundRect">
            <a:avLst>
              <a:gd name="adj" fmla="val 9091"/>
            </a:avLst>
          </a:prstGeom>
          <a:solidFill>
            <a:srgbClr val="EA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1729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099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spoke / RG per use case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456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1:1 to a future Citadel Access Contract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2953512"/>
            <a:ext cx="5285232" cy="1005840"/>
          </a:xfrm>
          <a:prstGeom prst="roundRect">
            <a:avLst>
              <a:gd name="adj" fmla="val 9091"/>
            </a:avLst>
          </a:prstGeom>
          <a:solidFill>
            <a:srgbClr val="EA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556248" y="31729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6248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099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tagging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456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· BU · Environment · Cost Center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123944"/>
            <a:ext cx="5285232" cy="1005840"/>
          </a:xfrm>
          <a:prstGeom prst="roundRect">
            <a:avLst>
              <a:gd name="adj" fmla="val 9091"/>
            </a:avLst>
          </a:prstGeom>
          <a:solidFill>
            <a:srgbClr val="EA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3434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270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LLM client abstraction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6268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reads endpoint/auth from config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123944"/>
            <a:ext cx="5285232" cy="1005840"/>
          </a:xfrm>
          <a:prstGeom prst="roundRect">
            <a:avLst>
              <a:gd name="adj" fmla="val 9091"/>
            </a:avLst>
          </a:prstGeom>
          <a:solidFill>
            <a:srgbClr val="EAF2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556248" y="43434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56248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4270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token usage from day one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46268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data for Phase 2 sizing (PTU / SKU)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migration change — authentication: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→ direct service (Phase 1) becomes APIM subscription key + optional JWT via Access Contract (Phase 2). With rules 1 &amp; 5, this is a configuration change, not a code change.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 Governance Hub — Dedicated Spoke on the vWAN 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0" y="1572768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800600" y="157276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vWAN Hub + Firewall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9048" y="2231136"/>
            <a:ext cx="0" cy="32918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20240" y="2560320"/>
            <a:ext cx="8366760" cy="1783080"/>
          </a:xfrm>
          <a:prstGeom prst="roundRect">
            <a:avLst>
              <a:gd name="adj" fmla="val 6154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94560" y="2697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 GOVERNANCE HUB — DEDICATED SPOKE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30632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67712" y="320040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249424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 Gateway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76472" y="30632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49624" y="320040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Center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831336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Registry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58384" y="30632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31536" y="320040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13248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0296" y="30632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13448" y="320040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+ PII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22208" y="30632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0" y="320040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Pipeline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577072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 → Cosmos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4343400"/>
            <a:ext cx="0" cy="6400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331720" y="498348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EA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31720" y="5093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Spoke 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422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— onboarded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4343400"/>
            <a:ext cx="0" cy="6400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029200" y="498348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EA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0" y="5093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Spoke B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5422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— onboarded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78240" y="4343400"/>
            <a:ext cx="0" cy="6400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26680" y="498348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EA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26680" y="5093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Spoke C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5422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Contract-driven operations:  </a:t>
            </a:r>
            <a:pPr indent="0" marL="0"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Contracts (supply: models &amp; routing) · Access Contracts (demand: per use case) · Publish Contracts (MCP tools / A2A agents)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WE MOVE?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Triggers — Reviewed Quarterly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85232" cy="1554480"/>
          </a:xfrm>
          <a:prstGeom prst="roundRect">
            <a:avLst>
              <a:gd name="adj" fmla="val 5882"/>
            </a:avLst>
          </a:prstGeom>
          <a:solidFill>
            <a:srgbClr val="EAF2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848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2232233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9572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3–4 AI use cases in production, or more than one Business Unit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285232" cy="1554480"/>
          </a:xfrm>
          <a:prstGeom prst="roundRect">
            <a:avLst>
              <a:gd name="adj" fmla="val 5882"/>
            </a:avLst>
          </a:prstGeom>
          <a:solidFill>
            <a:srgbClr val="EAF2F7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0848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81" y="22322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0299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39572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model authorization, quotas, or safety policies apps cannot bypass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285232" cy="1554480"/>
          </a:xfrm>
          <a:prstGeom prst="roundRect">
            <a:avLst>
              <a:gd name="adj" fmla="val 5882"/>
            </a:avLst>
          </a:prstGeom>
          <a:solidFill>
            <a:srgbClr val="EAF2F7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8679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401531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813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1788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/ showback needed; AI spend nears hub standing cost (break-even)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3611880"/>
            <a:ext cx="5285232" cy="1554480"/>
          </a:xfrm>
          <a:prstGeom prst="roundRect">
            <a:avLst>
              <a:gd name="adj" fmla="val 5882"/>
            </a:avLst>
          </a:prstGeom>
          <a:solidFill>
            <a:srgbClr val="EAF2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38679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81" y="401531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813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Ecosystem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1788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LLM providers, MCP tools, A2A agents, routing / failover needs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456432" y="5349240"/>
            <a:ext cx="5285232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sp>
        <p:nvSpPr>
          <p:cNvPr id="25" name="Shape 19"/>
          <p:cNvSpPr/>
          <p:nvPr/>
        </p:nvSpPr>
        <p:spPr>
          <a:xfrm>
            <a:off x="3685032" y="5678424"/>
            <a:ext cx="566928" cy="566928"/>
          </a:xfrm>
          <a:prstGeom prst="ellipse">
            <a:avLst/>
          </a:prstGeom>
          <a:solidFill>
            <a:srgbClr val="E09F3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2433" y="5825825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62272" y="55504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462272" y="591616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or audit requires a centralized AI request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4023360"/>
            <a:ext cx="4754880" cy="47548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155448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TO THE DESIGN COMMITTEE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3444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Lightweight AI Landing Zone,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Citadel as the committed evolution path.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18211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 spokes on the existing vWAN + Firewall (AI Landing Zones brownfield pattern)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3813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8404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the Phase 1 security baseline + six forward-compatible design rules from day one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44714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49884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tagging standard and Azure Policy guardrails proposed alongside this deck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51297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515721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Phase 2 triggers quarterly; deploy Citadel Governance Hub when any is met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5989320"/>
            <a:ext cx="2926080" cy="0"/>
          </a:xfrm>
          <a:prstGeom prst="line">
            <a:avLst/>
          </a:prstGeom>
          <a:noFill/>
          <a:ln w="31750">
            <a:solidFill>
              <a:srgbClr val="E09F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6172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premature platform cost — preserve a configuration-level path to enterprise-scale AI governance.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2026-09-16T03:15:32Z</dcterms:created>
  <dcterms:modified xsi:type="dcterms:W3CDTF">2026-09-16T03:15:32Z</dcterms:modified>
</cp:coreProperties>
</file>